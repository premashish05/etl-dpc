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7728FD-6699-4579-8ECF-3310E6C17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CCCDA39-04F2-409F-BD83-7FF20CDE2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F2F0228-B5D7-4E19-B15C-115591F5E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125AB63-84AE-48E2-A1EC-0C8F746B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F8CE0F-1ADC-4529-A408-36FDF2B4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532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6092BE-6E7B-4774-B080-EC0F312BD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F0A1E5-84BF-4D46-A0A0-A6DB505FB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811DC8C-35D1-44F3-9E1A-A5AA0A12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EAF376-DBB9-4738-A20B-9913F250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5D7E24-DCAD-42B0-BE01-5BCDB64B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99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13FB49-CEF2-414A-B88D-BCCF38D4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5AE055-E9C6-47B7-ABD7-6419DFE8C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FF72E9-88C1-4D55-A770-CA3CE49E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21A64A-DC0C-4714-9950-F7A5E86A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9D9AC9-E9C5-4DC0-BEFB-8E52F79B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40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433677-B006-4730-A21A-B88BDC10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2B74D9-35CA-4CED-B355-638E2A8137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67EDF74-B03D-4EBD-AC9B-C5784F6DF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FB1A27A-D3C1-4CC5-817E-B507FD19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07B488C-1880-42A4-9EDE-AFDB51EA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79CD070-02D4-4A87-BDC2-AB6E4C1F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93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9C97C5-46BC-4939-AC34-25DCD845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CC6B85E-3449-44E1-B74F-F27644AB0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4AD64D9-1A95-4B37-8B61-8FDEF00DC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4F8DD02-27AD-4B95-868D-8200492ED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3AA944F-3354-4874-B1EF-783AD0557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13CF826-6140-4FD2-9AA0-EAA832AD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59F99CE-C50D-406C-B7CD-79763CB2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F718E86-5169-4025-B3DD-2858AD41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60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869873-D21D-4210-8E8E-4B9515C9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C854B42-9150-4B7B-97E0-D9502BA7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4E691C5-2138-4330-9664-8CEC724B4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24E6A12-7D75-4FC3-B21C-8E971903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94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5441F43-815A-4C7E-BD92-83707E57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65D03D3-020C-4F25-A551-FCD17796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2F6C8EA-F73D-4420-BD99-8EEC624F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39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4B9414-E3D8-4E8E-8693-1D8AA300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4AC47B-B180-4A13-93BF-C84ED6748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9F83B98-D453-417C-B217-70F45A96D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DE42572-AC78-476A-9695-53FF72E4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D6C50FD-B512-40FB-8B3C-7A2B7FBC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14F7AFC-AB8E-4B93-9969-97BC6959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96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69DB3C-BEED-416C-81B5-DEC02660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0030D0F-FE74-4085-A67B-5F830AE8B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CC59AF8-6BA2-4A64-80C3-7FC7448F2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A8B00AD-8A5F-42E6-BDA9-F540F6B7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65EC8F-8FA9-44D9-BDAA-20EE67D0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7D2F4A7-D085-4AAD-8AF4-DBA8C614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41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8C13FA-4710-46C0-8A08-247043AFF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249CF97-75CC-451B-BD24-B6252C063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754D44-B509-4C68-A4CC-8BF1DD634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526A29-179C-4E9E-8A82-079D7741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209BC2-D44D-456C-A593-66BAD0F2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66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E4F21B8-8AC4-42DB-BEC1-1E9175454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F298040-EC4A-4282-A2F3-AAC412A70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BC753C-5613-4A34-935D-5CCE2F62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E3E52B-E284-4480-8EC3-A44C293B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804250D-8CAB-4369-8E17-4DB4CB95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03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64CF3E9-34E4-4A89-A711-0C63CE19B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92E9AA-357B-48F2-9D8E-9D1547700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F3D20E-9398-4C26-9A07-9F26B7AEC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FF845-C8D2-4283-9432-B9F609B9952E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8959B56-64D0-42BB-99D7-0CA78ADBB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0BD06F-28D6-498A-B740-5F466EA34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4C092-62BC-4EB5-BD04-E51B4D42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85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D2279E-7C3A-47B7-8069-71CC76C6E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5364" y="4074457"/>
            <a:ext cx="8821271" cy="860613"/>
          </a:xfrm>
        </p:spPr>
        <p:txBody>
          <a:bodyPr>
            <a:noAutofit/>
          </a:bodyPr>
          <a:lstStyle/>
          <a:p>
            <a:r>
              <a:rPr lang="en-IN" sz="4800" b="0" i="0" dirty="0">
                <a:effectLst/>
                <a:latin typeface="Helvetica" panose="020B0604020202020204" pitchFamily="34" charset="0"/>
              </a:rPr>
              <a:t>Time Travel and Fail-safe</a:t>
            </a:r>
            <a:br>
              <a:rPr lang="en-IN" sz="4800" b="0" i="0" dirty="0">
                <a:effectLst/>
                <a:latin typeface="Helvetica" panose="020B0604020202020204" pitchFamily="34" charset="0"/>
              </a:rPr>
            </a:br>
            <a:r>
              <a:rPr lang="en-IN" sz="4800" b="0" i="0" dirty="0">
                <a:effectLst/>
                <a:latin typeface="Helvetica" panose="020B0604020202020204" pitchFamily="34" charset="0"/>
              </a:rPr>
              <a:t>     		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1355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791AE5-C745-4A60-90E4-756EF0B6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993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505C63"/>
                </a:solidFill>
                <a:latin typeface="Helvetica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09505D-A84B-4DB6-A71D-9C98AC5B4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59"/>
            <a:ext cx="10515600" cy="4575175"/>
          </a:xfrm>
        </p:spPr>
        <p:txBody>
          <a:bodyPr>
            <a:normAutofit/>
          </a:bodyPr>
          <a:lstStyle/>
          <a:p>
            <a:pPr algn="l"/>
            <a:r>
              <a:rPr lang="en-US" sz="2200" dirty="0"/>
              <a:t>Time Travel</a:t>
            </a:r>
          </a:p>
          <a:p>
            <a:pPr algn="l"/>
            <a:r>
              <a:rPr lang="en-US" sz="2200" dirty="0"/>
              <a:t>Retention Period</a:t>
            </a:r>
          </a:p>
          <a:p>
            <a:pPr algn="l"/>
            <a:r>
              <a:rPr lang="en-US" sz="2200" dirty="0"/>
              <a:t>Querying historical data</a:t>
            </a:r>
          </a:p>
          <a:p>
            <a:pPr algn="l"/>
            <a:r>
              <a:rPr lang="en-US" sz="2200" dirty="0"/>
              <a:t>Restoring Objects</a:t>
            </a:r>
          </a:p>
          <a:p>
            <a:pPr algn="l"/>
            <a:r>
              <a:rPr lang="en-US" sz="2200" dirty="0"/>
              <a:t>Fail Safe</a:t>
            </a:r>
          </a:p>
          <a:p>
            <a:pPr algn="l"/>
            <a:r>
              <a:rPr lang="en-US" sz="2200" dirty="0"/>
              <a:t>Continuous Data Protection Life Cycle</a:t>
            </a:r>
          </a:p>
        </p:txBody>
      </p:sp>
    </p:spTree>
    <p:extLst>
      <p:ext uri="{BB962C8B-B14F-4D97-AF65-F5344CB8AC3E}">
        <p14:creationId xmlns:p14="http://schemas.microsoft.com/office/powerpoint/2010/main" val="414489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4E0A85-EA5D-4797-A696-BA932078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5110"/>
          </a:xfrm>
        </p:spPr>
        <p:txBody>
          <a:bodyPr/>
          <a:lstStyle/>
          <a:p>
            <a:r>
              <a:rPr lang="en-IN" b="0" i="0" dirty="0">
                <a:solidFill>
                  <a:srgbClr val="505C63"/>
                </a:solidFill>
                <a:effectLst/>
                <a:latin typeface="Helvetica" panose="020B0604020202020204" pitchFamily="34" charset="0"/>
              </a:rPr>
              <a:t>Time Travel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EFB31C-072E-C9E9-1B52-316752313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6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Snowflake Time Travel enables accessing historical data (i.e. data that has been changed or deleted) at any point within a defined period.</a:t>
            </a:r>
          </a:p>
          <a:p>
            <a:r>
              <a:rPr lang="en-US" sz="2400" dirty="0"/>
              <a:t>Restoring data-related objects (tables, schemas, and databases) that might have been accidentally or intentionally deleted.</a:t>
            </a:r>
          </a:p>
          <a:p>
            <a:r>
              <a:rPr lang="en-US" sz="2400" dirty="0"/>
              <a:t>Query data in the past that has since been updated or deleted. </a:t>
            </a:r>
          </a:p>
          <a:p>
            <a:r>
              <a:rPr lang="en-US" sz="2400" dirty="0"/>
              <a:t>Duplicating and backing up data from key points in the past.</a:t>
            </a:r>
          </a:p>
          <a:p>
            <a:r>
              <a:rPr lang="en-US" sz="2400" dirty="0"/>
              <a:t>Analyzing data usage/manipulation over specified periods of time.</a:t>
            </a:r>
          </a:p>
          <a:p>
            <a:r>
              <a:rPr lang="en-US" sz="2400" dirty="0"/>
              <a:t>No need to enable Time Travel, it is automatically enabled.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9678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4E0A85-EA5D-4797-A696-BA932078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/>
          <a:lstStyle/>
          <a:p>
            <a:r>
              <a:rPr lang="en-IN" dirty="0">
                <a:solidFill>
                  <a:srgbClr val="505C63"/>
                </a:solidFill>
                <a:latin typeface="Helvetica" panose="020B0604020202020204" pitchFamily="34" charset="0"/>
              </a:rPr>
              <a:t>Retention Period</a:t>
            </a:r>
            <a:endParaRPr lang="en-IN" b="0" i="0" dirty="0">
              <a:solidFill>
                <a:srgbClr val="505C6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EFB31C-072E-C9E9-1B52-316752313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6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Retention is the key component of Time Travel.</a:t>
            </a:r>
          </a:p>
          <a:p>
            <a:r>
              <a:rPr lang="en-US" sz="2400" dirty="0"/>
              <a:t>It specifies the number of days for which this historical data is preserved.</a:t>
            </a:r>
          </a:p>
          <a:p>
            <a:r>
              <a:rPr lang="en-US" sz="2400" dirty="0"/>
              <a:t>For Standard Edition, the retention period is 1 day, can set it to 0.</a:t>
            </a:r>
          </a:p>
          <a:p>
            <a:r>
              <a:rPr lang="en-US" sz="2400" dirty="0"/>
              <a:t>For Enterprise and higher editions it is 90 days, can set it any thing between 0-90 days.</a:t>
            </a:r>
          </a:p>
          <a:p>
            <a:r>
              <a:rPr lang="en-US" sz="2400" dirty="0"/>
              <a:t>Default is 1, we can set this period at the time of creation of object or can alter later.</a:t>
            </a:r>
          </a:p>
          <a:p>
            <a:r>
              <a:rPr lang="en-US" sz="2400" dirty="0"/>
              <a:t>A retention period of 0 days for any object means disabling Time Travel for the object.</a:t>
            </a:r>
          </a:p>
          <a:p>
            <a:r>
              <a:rPr lang="en-US" sz="2400" dirty="0"/>
              <a:t>We can change the retention period by using ALTER command.</a:t>
            </a:r>
          </a:p>
          <a:p>
            <a:r>
              <a:rPr lang="en-US" sz="2400" dirty="0"/>
              <a:t>Higher retention period, the higher storage cost.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3163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4E0A85-EA5D-4797-A696-BA932078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/>
          <a:lstStyle/>
          <a:p>
            <a:r>
              <a:rPr lang="en-IN" dirty="0">
                <a:solidFill>
                  <a:srgbClr val="505C63"/>
                </a:solidFill>
                <a:latin typeface="Helvetica" panose="020B0604020202020204" pitchFamily="34" charset="0"/>
              </a:rPr>
              <a:t>Querying Historical Data</a:t>
            </a:r>
            <a:endParaRPr lang="en-IN" b="0" i="0" dirty="0">
              <a:solidFill>
                <a:srgbClr val="505C6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EFB31C-072E-C9E9-1B52-316752313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6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 Ways to query historical data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At specified timestamp</a:t>
            </a:r>
          </a:p>
          <a:p>
            <a:pPr marL="457200" indent="-457200">
              <a:buAutoNum type="arabicPeriod"/>
            </a:pPr>
            <a:r>
              <a:rPr lang="en-US" sz="2400" dirty="0"/>
              <a:t>At some time ago</a:t>
            </a:r>
          </a:p>
          <a:p>
            <a:pPr marL="457200" indent="-457200">
              <a:buAutoNum type="arabicPeriod"/>
            </a:pPr>
            <a:r>
              <a:rPr lang="en-US" sz="2400" dirty="0"/>
              <a:t>Before executing any statement/query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920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4E0A85-EA5D-4797-A696-BA932078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/>
          <a:lstStyle/>
          <a:p>
            <a:r>
              <a:rPr lang="en-IN" dirty="0">
                <a:solidFill>
                  <a:srgbClr val="505C63"/>
                </a:solidFill>
                <a:latin typeface="Helvetica" panose="020B0604020202020204" pitchFamily="34" charset="0"/>
              </a:rPr>
              <a:t>Querying Historical Data</a:t>
            </a:r>
            <a:endParaRPr lang="en-IN" b="0" i="0" dirty="0">
              <a:solidFill>
                <a:srgbClr val="505C6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EFB31C-072E-C9E9-1B52-316752313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6" y="140428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1. Below query selects historical data from a table at the specified timestamp:</a:t>
            </a:r>
          </a:p>
          <a:p>
            <a:pPr marL="0" indent="0">
              <a:buNone/>
            </a:pPr>
            <a:r>
              <a:rPr lang="en-US" sz="2200" i="1" dirty="0"/>
              <a:t>select * from </a:t>
            </a:r>
            <a:r>
              <a:rPr lang="en-US" sz="2200" i="1" dirty="0" err="1"/>
              <a:t>my_table</a:t>
            </a:r>
            <a:r>
              <a:rPr lang="en-US" sz="2200" i="1" dirty="0"/>
              <a:t> at(timestamp =&gt; 'Fri, 01 May 2015 16:20:00 -0700'::</a:t>
            </a:r>
            <a:r>
              <a:rPr lang="en-US" sz="2200" i="1" dirty="0" err="1"/>
              <a:t>timestamp_tz</a:t>
            </a:r>
            <a:r>
              <a:rPr lang="en-US" sz="2200" i="1" dirty="0"/>
              <a:t>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Below query selects historical data from a table as of 5 minutes ago:</a:t>
            </a:r>
          </a:p>
          <a:p>
            <a:pPr marL="0" indent="0">
              <a:buNone/>
            </a:pPr>
            <a:r>
              <a:rPr lang="en-US" sz="2400" i="1" dirty="0"/>
              <a:t>select * from </a:t>
            </a:r>
            <a:r>
              <a:rPr lang="en-US" sz="2400" i="1" dirty="0" err="1"/>
              <a:t>my_table</a:t>
            </a:r>
            <a:r>
              <a:rPr lang="en-US" sz="2400" i="1" dirty="0"/>
              <a:t> at(offset =&gt; -60*5);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Below query selects historical data that present in the table before executing the query specified by query id</a:t>
            </a:r>
          </a:p>
          <a:p>
            <a:pPr marL="0" indent="0">
              <a:buNone/>
            </a:pPr>
            <a:r>
              <a:rPr lang="en-US" sz="2200" i="1" dirty="0"/>
              <a:t>select * from </a:t>
            </a:r>
            <a:r>
              <a:rPr lang="en-US" sz="2200" i="1" dirty="0" err="1"/>
              <a:t>my_table</a:t>
            </a:r>
            <a:r>
              <a:rPr lang="en-US" sz="2200" i="1" dirty="0"/>
              <a:t> before(statement =&gt; '8e5d0ca9-005e-44e6-b858-a8f5b37c5726');</a:t>
            </a:r>
          </a:p>
        </p:txBody>
      </p:sp>
    </p:spTree>
    <p:extLst>
      <p:ext uri="{BB962C8B-B14F-4D97-AF65-F5344CB8AC3E}">
        <p14:creationId xmlns:p14="http://schemas.microsoft.com/office/powerpoint/2010/main" val="2163671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4E0A85-EA5D-4797-A696-BA932078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/>
          <a:lstStyle/>
          <a:p>
            <a:r>
              <a:rPr lang="en-IN" dirty="0">
                <a:solidFill>
                  <a:srgbClr val="505C63"/>
                </a:solidFill>
                <a:latin typeface="Helvetica" panose="020B0604020202020204" pitchFamily="34" charset="0"/>
              </a:rPr>
              <a:t>Restoring Objects</a:t>
            </a:r>
            <a:endParaRPr lang="en-IN" b="0" i="0" dirty="0">
              <a:solidFill>
                <a:srgbClr val="505C6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EFB31C-072E-C9E9-1B52-316752313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6" y="140428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When a table, schema, or database is dropped, it is not immediately removed from the system. </a:t>
            </a:r>
          </a:p>
          <a:p>
            <a:r>
              <a:rPr lang="en-US" sz="2400" dirty="0"/>
              <a:t>Instead, it is retained for the data retention period for the object, during which time the object can be restored. </a:t>
            </a:r>
          </a:p>
          <a:p>
            <a:r>
              <a:rPr lang="en-US" sz="2400" dirty="0"/>
              <a:t>After retention period is completed, we can’t restore the objects.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UNDROP TABLE </a:t>
            </a:r>
            <a:r>
              <a:rPr lang="en-US" sz="2000" i="1" dirty="0"/>
              <a:t>‘TABLE_NAME’</a:t>
            </a:r>
          </a:p>
          <a:p>
            <a:pPr marL="457200" lvl="1" indent="0">
              <a:buNone/>
            </a:pPr>
            <a:r>
              <a:rPr lang="en-US" sz="2000" dirty="0"/>
              <a:t>UNDROP SCHEMA </a:t>
            </a:r>
            <a:r>
              <a:rPr lang="en-US" sz="2000" i="1" dirty="0"/>
              <a:t>‘SCHEMA_NAME’</a:t>
            </a:r>
          </a:p>
          <a:p>
            <a:pPr marL="457200" lvl="1" indent="0">
              <a:buNone/>
            </a:pPr>
            <a:r>
              <a:rPr lang="en-US" sz="2000" dirty="0"/>
              <a:t>UNDROP DATABASE </a:t>
            </a:r>
            <a:r>
              <a:rPr lang="en-US" sz="2000" i="1" dirty="0"/>
              <a:t>‘DATABASE_NAME’</a:t>
            </a:r>
          </a:p>
          <a:p>
            <a:pPr marL="457200" lvl="1" indent="0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131730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4E0A85-EA5D-4797-A696-BA932078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/>
          <a:lstStyle/>
          <a:p>
            <a:r>
              <a:rPr lang="en-IN" dirty="0">
                <a:solidFill>
                  <a:srgbClr val="505C63"/>
                </a:solidFill>
                <a:latin typeface="Helvetica" panose="020B0604020202020204" pitchFamily="34" charset="0"/>
              </a:rPr>
              <a:t>Fail-safe</a:t>
            </a:r>
            <a:endParaRPr lang="en-IN" b="0" i="0" dirty="0">
              <a:solidFill>
                <a:srgbClr val="505C6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EFB31C-072E-C9E9-1B52-316752313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6" y="140428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Fail-safe provides a 7-day period during which historical data may be recoverable by Snowflake.</a:t>
            </a:r>
          </a:p>
          <a:p>
            <a:r>
              <a:rPr lang="en-US" sz="2400" dirty="0"/>
              <a:t>This period starts immediately after the Time Travel retention period ends. </a:t>
            </a:r>
          </a:p>
          <a:p>
            <a:r>
              <a:rPr lang="en-US" sz="2400" dirty="0"/>
              <a:t>We can't query or restore the Fail-safe data.</a:t>
            </a:r>
          </a:p>
          <a:p>
            <a:r>
              <a:rPr lang="en-US" sz="2400" dirty="0"/>
              <a:t>We need to contact Snowflake Support to restore the data during Fail-safe period.</a:t>
            </a:r>
          </a:p>
          <a:p>
            <a:r>
              <a:rPr lang="en-US" sz="2400" dirty="0"/>
              <a:t>Data recovery through Fail-safe may take several hours to several days to complete.</a:t>
            </a:r>
          </a:p>
          <a:p>
            <a:r>
              <a:rPr lang="en-US" sz="2400" dirty="0"/>
              <a:t>After Fail-safe period is over, there is no other way to recover the data.</a:t>
            </a:r>
            <a:endParaRPr lang="en-US" sz="2000" i="1" dirty="0"/>
          </a:p>
          <a:p>
            <a:pPr marL="457200" lvl="1" indent="0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705890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4E0A85-EA5D-4797-A696-BA932078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505C63"/>
                </a:solidFill>
                <a:latin typeface="Helvetica" panose="020B0604020202020204" pitchFamily="34" charset="0"/>
              </a:rPr>
              <a:t>Continuous Data Protection Life Cycle</a:t>
            </a:r>
          </a:p>
        </p:txBody>
      </p:sp>
      <p:pic>
        <p:nvPicPr>
          <p:cNvPr id="5" name="Content Placeholder 4" descr="Fail-safe in Continuous Data Protection lifecycle">
            <a:extLst>
              <a:ext uri="{FF2B5EF4-FFF2-40B4-BE49-F238E27FC236}">
                <a16:creationId xmlns:a16="http://schemas.microsoft.com/office/drawing/2014/main" xmlns="" id="{2BC96D48-AAA3-4B7E-96D0-4E195B4086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389" y="1621211"/>
            <a:ext cx="8742270" cy="3881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879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D2279E-7C3A-47B7-8069-71CC76C6E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5364" y="4074457"/>
            <a:ext cx="8821271" cy="860613"/>
          </a:xfrm>
        </p:spPr>
        <p:txBody>
          <a:bodyPr>
            <a:noAutofit/>
          </a:bodyPr>
          <a:lstStyle/>
          <a:p>
            <a:r>
              <a:rPr lang="en-IN" sz="4800" b="0" i="0" dirty="0">
                <a:effectLst/>
                <a:latin typeface="Helvetica" panose="020B0604020202020204" pitchFamily="34" charset="0"/>
              </a:rPr>
              <a:t>Thank You	</a:t>
            </a:r>
            <a:br>
              <a:rPr lang="en-IN" sz="4800" b="0" i="0" dirty="0">
                <a:effectLst/>
                <a:latin typeface="Helvetica" panose="020B0604020202020204" pitchFamily="34" charset="0"/>
              </a:rPr>
            </a:br>
            <a:r>
              <a:rPr lang="en-IN" sz="4800" b="0" i="0" dirty="0">
                <a:effectLst/>
                <a:latin typeface="Helvetica" panose="020B0604020202020204" pitchFamily="34" charset="0"/>
              </a:rPr>
              <a:t>     			</a:t>
            </a:r>
            <a:br>
              <a:rPr lang="en-IN" sz="4800" b="0" i="0" dirty="0">
                <a:effectLst/>
                <a:latin typeface="Helvetica" panose="020B0604020202020204" pitchFamily="34" charset="0"/>
              </a:rPr>
            </a:br>
            <a:r>
              <a:rPr lang="en-IN" sz="4800" b="0" i="0" dirty="0">
                <a:effectLst/>
                <a:latin typeface="Helvetica" panose="020B0604020202020204" pitchFamily="34" charset="0"/>
              </a:rPr>
              <a:t>			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0460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</TotalTime>
  <Words>502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Office Theme</vt:lpstr>
      <vt:lpstr>Time Travel and Fail-safe        </vt:lpstr>
      <vt:lpstr>Agenda</vt:lpstr>
      <vt:lpstr>Time Travel</vt:lpstr>
      <vt:lpstr>Retention Period</vt:lpstr>
      <vt:lpstr>Querying Historical Data</vt:lpstr>
      <vt:lpstr>Querying Historical Data</vt:lpstr>
      <vt:lpstr>Restoring Objects</vt:lpstr>
      <vt:lpstr>Fail-safe</vt:lpstr>
      <vt:lpstr>Continuous Data Protection Life Cycle</vt:lpstr>
      <vt:lpstr>Thank You            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Janardhana Bandi</dc:creator>
  <cp:lastModifiedBy>DELL</cp:lastModifiedBy>
  <cp:revision>117</cp:revision>
  <dcterms:created xsi:type="dcterms:W3CDTF">2021-01-16T07:18:07Z</dcterms:created>
  <dcterms:modified xsi:type="dcterms:W3CDTF">2025-04-18T06:47:01Z</dcterms:modified>
</cp:coreProperties>
</file>